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 overview: five phases over six months; each phase produces a working pipeline. Materials grow on the site as they are 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1: chapters 1-3 are written and published; four interactive explorables; one notebook per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everything is on the site; the deck is a map, the site is the territory.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4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EFFICIENT LLMS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six-month path from engineer to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who trains LLMs — efficiently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book Efficient Training of LLMs — written from the experience of pre-training LatamGPT — plus interactive explorables, runnable notebooks, and pipelines you build yourself.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U. Florez, PhD</a:t>
            </a:r>
            <a:pPr indent="0" marL="0">
              <a:buNone/>
            </a:pPr>
            <a:r>
              <a:rPr lang="en-US" sz="14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omar-florez.github.io/training-efficient-llms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006840" y="914400"/>
            <a:ext cx="0" cy="0"/>
          </a:xfrm>
          <a:prstGeom prst="ellipse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9006840" y="914400"/>
            <a:ext cx="0" cy="0"/>
          </a:xfrm>
          <a:prstGeom prst="ellipse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9006840" y="914400"/>
            <a:ext cx="0" cy="0"/>
          </a:xfrm>
          <a:prstGeom prst="ellipse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9006840" y="914400"/>
            <a:ext cx="0" cy="0"/>
          </a:xfrm>
          <a:prstGeom prst="ellipse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9006840" y="914400"/>
            <a:ext cx="0" cy="0"/>
          </a:xfrm>
          <a:prstGeom prst="ellipse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8915400" y="4114800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1540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336024" y="40965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0288"/>
            <a:ext cx="310896" cy="310896"/>
          </a:xfrm>
          <a:prstGeom prst="ellipse">
            <a:avLst/>
          </a:prstGeom>
          <a:solidFill>
            <a:srgbClr val="3F74B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15400" y="4590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336024" y="4572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5400" y="5065776"/>
            <a:ext cx="310896" cy="310896"/>
          </a:xfrm>
          <a:prstGeom prst="ellipse">
            <a:avLst/>
          </a:prstGeom>
          <a:solidFill>
            <a:srgbClr val="3F74B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15400" y="5065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336024" y="5047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15400" y="5541264"/>
            <a:ext cx="310896" cy="310896"/>
          </a:xfrm>
          <a:prstGeom prst="ellipse">
            <a:avLst/>
          </a:prstGeom>
          <a:solidFill>
            <a:srgbClr val="3F74B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15400" y="5541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36024" y="55229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15400" y="6016752"/>
            <a:ext cx="310896" cy="310896"/>
          </a:xfrm>
          <a:prstGeom prst="ellipse">
            <a:avLst/>
          </a:prstGeom>
          <a:solidFill>
            <a:srgbClr val="3F74B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15400" y="6016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5998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777240" cy="777240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48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56692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Foundations: how models are trained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5852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learning works — loss, gradients, backpropagation — then language modeling and tokenization, and the transformer as a machine you can count. Every concept is implemented small before it is used big: each engineer writes the training loop, a BPE tokenizer, attention from scratch, and prices real models from their configs.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00200" y="4892040"/>
            <a:ext cx="5852160" cy="1325880"/>
          </a:xfrm>
          <a:prstGeom prst="roundRect">
            <a:avLst>
              <a:gd name="adj" fmla="val 5517"/>
            </a:avLst>
          </a:prstGeom>
          <a:solidFill>
            <a:srgbClr val="EFF4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74520" y="5074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HAVE BUILT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5349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foundation across the team, with working implementations of the core mechanisms written by each engineer.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18120" y="1600200"/>
            <a:ext cx="3794760" cy="4617720"/>
          </a:xfrm>
          <a:prstGeom prst="roundRect">
            <a:avLst>
              <a:gd name="adj" fmla="val 1928"/>
            </a:avLst>
          </a:prstGeom>
          <a:solidFill>
            <a:srgbClr val="1740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19456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— written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  Programs you don't write
Ch. 2  Language modeling
Ch. 3  The transformer, mechanically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Gradient-descent playground · BPE stepper · Parameter counter · RoPE rotations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Colab per chapter — run the book's numbers yourself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Efficient LLMs · omar-florez.github.io/training-efficient-llms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669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4572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Programs you don't write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24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gradients, and the machine that turns data into functions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IN FIVE IDEAS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6949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loss; the loss writes the program — the one mental shift the whole field rests on. Llama 2 7B is a function with 6.7B constants nobody wrote.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recipe in four lines — forward, loss, backward, update — run for real on a two-parameter rent model: loss 7,205,000 → 3,425 in ten steps, then the noise floor.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is the chain rule over your call graph: the full gradient costs ~2 extra forward passes for any number of parameters — and its stored activations are what fill a training GPU.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minimizes training loss, which is a proxy: held-out data is the only honest measure, and at LLM scale the failure mode is benchmark contamination.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compiles to matrix multiplies — the hardware ladder from Python loops to an H100 spans ~7 orders of magnitude, and that is why GPUs exist.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863840" y="169164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740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38160" y="1965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6,738,415,616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3017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in Llama 2 7B — not one chosen by a person. This chapter explains the machine that chose them.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416052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EFF4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6634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chapters/ch01_programs.html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(Colab): labs/ch01_programs.ipynb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gradient-descent playground — cause the divergence yourself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Efficient LLMs · omar-florez.github.io/training-efficient-llms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669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4572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modeling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24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cross-entropy, and the numbers you will stare at for months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IN FIVE IDEAS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6949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tokenizer chops bytes into units by pure frequency (BPE): frequent strings become one token, rare ones stay in pieces — and an English-centric vocabulary taxes Spanish 30–50% more tokens per sentence.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turn ids into learned vectors whose geometry encodes similarity of usage — nobody defines similarity; prediction pressure does.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is one line: pay −log p of the true next token. Every position of every sequence trains at once; no labels are ever bought.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= e^loss is the effective branching factor: 50,257 at step zero, a cliff to ~50 on cheap statistics, then the expensive grind toward the entropy floor of language.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(temperature, top-p) is not part of the model — the same weights are a careful assistant at T=0.5 and a brainstormer at T=1.2.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863840" y="169164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740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38160" y="1965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 50,257 = 10.8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3017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loss every GPT-2-vocabulary run prints, before learning anything — uniform guessing over the vocabulary.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416052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EFF4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6634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chapters/ch02_language_modeling.html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(Colab): labs/ch02_language_modeling.ipynb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BPE, one merge at a time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Efficient LLMs · omar-florez.github.io/training-efficient-llms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669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4572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transformer, mechanically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24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block does, what it costs, and how to count it by hand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IN FIVE IDEAS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6949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stream is a bus: every component reads it, computes an update, and adds it back — attention moves information between positions, the MLP thinks per position.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 soft dictionary lookup: queries dot keys, softmax, weighted sum of values — with a causal mask and a √d_k that, if forgotten, silently ruins training.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MLP holds two-thirds of the parameters and works as a key-value memory: where the model's facts physically live.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block = the 2017 decoder minus cross-attention, plus four swaps: pre-norm, RMSNorm, RoPE, SwiGLU.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config integers give the four facts: parameters N(4d²+3d·d_ff)+2Vd — 6.74B for Llama 2 7B, exact to the RMSNorm vectors — disk, FLOPs/token (6P), and KV cache (512 KB/token).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863840" y="169164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740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38160" y="1965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→ 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3017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integers in a config.json determine parameters, disk size, FLOPs per token, and KV-cache memory — computable in your head.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416052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EFF4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6634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chapters/ch03_transformer.html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(Colab): labs/ch03_transformer.ipynb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the parameter counter · RoPE rotations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Efficient LLMs · omar-florez.github.io/training-efficient-llms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777240" cy="777240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48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56692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generation &amp; validation pipeline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5852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reproducible pipeline for producing training data — including synthetic instructions, dialogues, and reasoning traces — and for validating its quality: deduplication, quality filtering, factual checks, model-as-judge review, and human sampling. Dataset versioning and traceability from day 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00200" y="4892040"/>
            <a:ext cx="5852160" cy="1325880"/>
          </a:xfrm>
          <a:prstGeom prst="roundRect">
            <a:avLst>
              <a:gd name="adj" fmla="val 5517"/>
            </a:avLst>
          </a:prstGeom>
          <a:solidFill>
            <a:srgbClr val="EFF4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74520" y="5074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HAVE BUILT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5349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data pipeline with quality metrics and versioned datasets, ready to feed training.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18120" y="1600200"/>
            <a:ext cx="3794760" cy="4617720"/>
          </a:xfrm>
          <a:prstGeom prst="roundRect">
            <a:avLst>
              <a:gd name="adj" fmla="val 1928"/>
            </a:avLst>
          </a:prstGeom>
          <a:solidFill>
            <a:srgbClr val="1740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19456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— in progress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  Data is the cheapest efficiency lever
Ch. 25  Synthetic data &amp; distillation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PHASE 1 YOU REUSE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BPE stepper's compression lens: better data → fewer, denser tokens → compute saved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Efficient LLMs · omar-florez.github.io/training-efficient-llms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777240" cy="777240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48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56692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training &amp; fine-tuning pipeline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5852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standardized training pipeline on open models: supervised fine-tuning, LoRA/QLoRA, and DPO alignment as the use case requires — with experiment tracking, checkpoints, and GPU cost discipline. This is also where efficiency becomes architectural: what attention costs, why the KV cache rules serving, and how the labs shrank both.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00200" y="4892040"/>
            <a:ext cx="5852160" cy="1325880"/>
          </a:xfrm>
          <a:prstGeom prst="roundRect">
            <a:avLst>
              <a:gd name="adj" fmla="val 5517"/>
            </a:avLst>
          </a:prstGeom>
          <a:solidFill>
            <a:srgbClr val="EFF4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74520" y="5074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HAVE BUILT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5349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end-to-end, reproducible fine-tuning pipeline, with at least one model adapted to a pilot domain.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18120" y="1600200"/>
            <a:ext cx="3794760" cy="4617720"/>
          </a:xfrm>
          <a:prstGeom prst="roundRect">
            <a:avLst>
              <a:gd name="adj" fmla="val 1928"/>
            </a:avLst>
          </a:prstGeom>
          <a:solidFill>
            <a:srgbClr val="1740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19456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— written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13  Making attention cheap
(FlashAttention · MQA · GQA · MLA · sliding windows)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Attention Zoo — five mechanisms, one decoding loop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16  Sequence packing · Ch. 22  SFT done cheaply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Efficient LLMs · omar-florez.github.io/training-efficient-llms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669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4572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attention cheap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24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FlashAttention, MQA, GQA, MLA, sliding windows — and how to choose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IN FIVE IDEAS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6949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presents three different bills: quadratic FLOPs (bind past L* ≈ 6d ≈ 25K tokens at 7B), the L×L training-memory artifact, and decode bandwidth — reading the whole KV cache per generated token at ~1 FLOP per byte.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erases the memory artifact exactly — tiling through SRAM with an online softmax — and is simply always on.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shrinks by consolidating KV heads: MQA (÷32, quality tax), GQA-8 (the industry default; reachable from MHA by a 5% uptrain), or DeepSeek's MLA — cache a 576-number latent, attend on it directly: 57×, quality intact.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 cap compute and cache but trade away direct long-range sight — so Mistral and Gemma interleave local and global layers.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Flash always → GQA-8 by default → MLA when serving memory is the product → windows when context is long and local. Then evaluate long-range recall — the currency every technique quietly spends.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863840" y="169164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740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38160" y="1965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 GB vs 13.5 GB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3017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KV cache versus the weights for an MHA 7B at 32K context, batch 32 — why this chapter exists.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416052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EFF4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6634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chapters/ch13_attention.html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(Colab): labs/ch13_attention.ipynb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the Attention Zoo — five mechanisms, one loop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Efficient LLMs · omar-florez.github.io/training-efficient-llms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777240" cy="777240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48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56692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benchmarking pipeline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5852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benchmarks that measure what your users actually need — knowledge and reasoning in the domains that matter — and automate the evaluation: a benchmark harness, per-capability metrics, judge-based evaluation, and reports comparable across models and versions.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00200" y="4892040"/>
            <a:ext cx="5852160" cy="1325880"/>
          </a:xfrm>
          <a:prstGeom prst="roundRect">
            <a:avLst>
              <a:gd name="adj" fmla="val 5517"/>
            </a:avLst>
          </a:prstGeom>
          <a:solidFill>
            <a:srgbClr val="EFF4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74520" y="5074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HAVE BUILT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5349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 suite per domain and an automated evaluation pipeline any model can be run through.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18120" y="1600200"/>
            <a:ext cx="3794760" cy="4617720"/>
          </a:xfrm>
          <a:prstGeom prst="roundRect">
            <a:avLst>
              <a:gd name="adj" fmla="val 1928"/>
            </a:avLst>
          </a:prstGeom>
          <a:solidFill>
            <a:srgbClr val="1740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19456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— planned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  How you'll know it's working
(benchmarks, contamination, cheap proxies,
building an eval suite you trust)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 ALREADY LIVE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 §2.4 — loss, perplexity, and reading curves: the health metrics everything else builds 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Efficient LLMs · omar-florez.github.io/training-efficient-llms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777240" cy="777240"/>
          </a:xfrm>
          <a:prstGeom prst="ellipse">
            <a:avLst/>
          </a:prstGeom>
          <a:solidFill>
            <a:srgbClr val="1740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548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56692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living ranking of open models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5852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loop: a pipeline that periodically evaluates the leading open models — Llama, Qwen, Mistral, DeepSeek, Gemma, and whatever ships next — against your benchmark suite, weighing capability, inference cost, latency, license, and ease of deployment.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00200" y="4892040"/>
            <a:ext cx="5852160" cy="1325880"/>
          </a:xfrm>
          <a:prstGeom prst="roundRect">
            <a:avLst>
              <a:gd name="adj" fmla="val 5517"/>
            </a:avLst>
          </a:prstGeom>
          <a:solidFill>
            <a:srgbClr val="EFF4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74520" y="5074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HAVE BUILT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5349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model ranking with a dashboard and actionable model-selection guidance, maintained by the team that built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18120" y="1600200"/>
            <a:ext cx="3794760" cy="4617720"/>
          </a:xfrm>
          <a:prstGeom prst="roundRect">
            <a:avLst>
              <a:gd name="adj" fmla="val 1928"/>
            </a:avLst>
          </a:prstGeom>
          <a:solidFill>
            <a:srgbClr val="1740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19456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— planned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7  Scaling laws for training &amp; inference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 ALREADY LIVE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13 Table 13.1 — attention at the frontier, model by model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parameter counter — price any candidate model from its config in seconds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Efficient LLMs · omar-florez.github.io/training-efficient-llms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4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lives in one place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omar-florez.github.io/training-efficient-llms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224E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8992" y="2606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2971800"/>
            <a:ext cx="2926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Training of LLMs — chapters published as they are finished, in HTML and PDF. Written in second person, from the LatamGPT pre-training experience; every number computed for real.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26280" y="23774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224E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82312" y="2606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82312" y="2971800"/>
            <a:ext cx="2926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explorables: gradient descent, BPE, the parameter counter, RoPE, and the Attention Zoo — the same figures from the book, but you drive them.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3774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224E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85632" y="2606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85632" y="2971800"/>
            <a:ext cx="2926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Colab notebook per chapter: run the code, reproduce the tables and plots, break things safely.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marked </a:t>
            </a:r>
            <a:pPr indent="0" marL="0">
              <a:buNone/>
            </a:pPr>
            <a:r>
              <a:rPr lang="en-US" sz="1400" i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pPr indent="0" marL="0">
              <a:buNone/>
            </a:pPr>
            <a:r>
              <a:rPr lang="en-US" sz="14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appear on the site as each phase approaches — the page is the single source of truth.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2026-09-02T06:14:07Z</dcterms:created>
  <dcterms:modified xsi:type="dcterms:W3CDTF">2026-09-02T06:14:07Z</dcterms:modified>
</cp:coreProperties>
</file>